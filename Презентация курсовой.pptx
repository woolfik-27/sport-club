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9" r:id="rId1"/>
  </p:sldMasterIdLst>
  <p:notesMasterIdLst>
    <p:notesMasterId r:id="rId14"/>
  </p:notesMasterIdLst>
  <p:sldIdLst>
    <p:sldId id="279" r:id="rId2"/>
    <p:sldId id="276" r:id="rId3"/>
    <p:sldId id="264" r:id="rId4"/>
    <p:sldId id="268" r:id="rId5"/>
    <p:sldId id="269" r:id="rId6"/>
    <p:sldId id="270" r:id="rId7"/>
    <p:sldId id="271" r:id="rId8"/>
    <p:sldId id="263" r:id="rId9"/>
    <p:sldId id="278" r:id="rId10"/>
    <p:sldId id="272" r:id="rId11"/>
    <p:sldId id="280" r:id="rId12"/>
    <p:sldId id="275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4391"/>
    <a:srgbClr val="764596"/>
    <a:srgbClr val="4C4291"/>
    <a:srgbClr val="414291"/>
    <a:srgbClr val="484393"/>
    <a:srgbClr val="9C478A"/>
    <a:srgbClr val="AA5191"/>
    <a:srgbClr val="2B5BA5"/>
    <a:srgbClr val="285AA4"/>
    <a:srgbClr val="315C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5012" autoAdjust="0"/>
  </p:normalViewPr>
  <p:slideViewPr>
    <p:cSldViewPr snapToGrid="0">
      <p:cViewPr>
        <p:scale>
          <a:sx n="81" d="100"/>
          <a:sy n="81" d="100"/>
        </p:scale>
        <p:origin x="706" y="67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488A39-FBD0-4803-B081-179227C31304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1952AC-C0F5-4488-AF91-33EF88CB97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8089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1952AC-C0F5-4488-AF91-33EF88CB97A8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73223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634698" y="2453391"/>
            <a:ext cx="6346132" cy="1522676"/>
          </a:xfrm>
        </p:spPr>
        <p:txBody>
          <a:bodyPr anchor="ctr">
            <a:normAutofit/>
          </a:bodyPr>
          <a:lstStyle>
            <a:lvl1pPr algn="l">
              <a:defRPr sz="2400" b="1"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«ТЕМА КУРСОВОЙ РАБОТЫ (ПРОЕКТА)»</a:t>
            </a:r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356" r="49722" b="19357"/>
          <a:stretch/>
        </p:blipFill>
        <p:spPr>
          <a:xfrm>
            <a:off x="6556531" y="808958"/>
            <a:ext cx="5576500" cy="4806062"/>
          </a:xfrm>
          <a:prstGeom prst="rect">
            <a:avLst/>
          </a:prstGeom>
        </p:spPr>
      </p:pic>
      <p:sp>
        <p:nvSpPr>
          <p:cNvPr id="5" name="TextBox 4"/>
          <p:cNvSpPr txBox="1"/>
          <p:nvPr userDrawn="1"/>
        </p:nvSpPr>
        <p:spPr>
          <a:xfrm>
            <a:off x="570629" y="4010120"/>
            <a:ext cx="37712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ВЫПОЛНИЛ СТУДЕНТ ГРУППЫ</a:t>
            </a:r>
          </a:p>
        </p:txBody>
      </p:sp>
      <p:sp>
        <p:nvSpPr>
          <p:cNvPr id="10" name="Текст 9"/>
          <p:cNvSpPr>
            <a:spLocks noGrp="1"/>
          </p:cNvSpPr>
          <p:nvPr>
            <p:ph type="body" sz="quarter" idx="13" hasCustomPrompt="1"/>
          </p:nvPr>
        </p:nvSpPr>
        <p:spPr>
          <a:xfrm>
            <a:off x="634698" y="4449555"/>
            <a:ext cx="6700974" cy="706465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ИВАНОВ ИВАН ИВАНОВИЧ</a:t>
            </a:r>
          </a:p>
        </p:txBody>
      </p:sp>
      <p:sp>
        <p:nvSpPr>
          <p:cNvPr id="22" name="Прямоугольник 21"/>
          <p:cNvSpPr/>
          <p:nvPr userDrawn="1"/>
        </p:nvSpPr>
        <p:spPr>
          <a:xfrm>
            <a:off x="637150" y="1359011"/>
            <a:ext cx="24415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l"/>
            <a:r>
              <a:rPr lang="ru-RU" sz="1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КУРСОВОЙ ПРОЕКТ</a:t>
            </a:r>
          </a:p>
        </p:txBody>
      </p:sp>
      <p:sp>
        <p:nvSpPr>
          <p:cNvPr id="23" name="Прямоугольник 22"/>
          <p:cNvSpPr/>
          <p:nvPr userDrawn="1"/>
        </p:nvSpPr>
        <p:spPr>
          <a:xfrm>
            <a:off x="634698" y="2123477"/>
            <a:ext cx="108876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l"/>
            <a:r>
              <a:rPr lang="ru-RU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 ТЕМУ</a:t>
            </a:r>
          </a:p>
        </p:txBody>
      </p:sp>
      <p:sp>
        <p:nvSpPr>
          <p:cNvPr id="25" name="Текст 9"/>
          <p:cNvSpPr>
            <a:spLocks noGrp="1"/>
          </p:cNvSpPr>
          <p:nvPr>
            <p:ph type="body" sz="quarter" idx="17" hasCustomPrompt="1"/>
          </p:nvPr>
        </p:nvSpPr>
        <p:spPr>
          <a:xfrm>
            <a:off x="3952616" y="3997677"/>
            <a:ext cx="959937" cy="367057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Н1812</a:t>
            </a:r>
          </a:p>
        </p:txBody>
      </p:sp>
      <p:sp>
        <p:nvSpPr>
          <p:cNvPr id="26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634698" y="6084911"/>
            <a:ext cx="4114800" cy="365125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МОСКВА 2026</a:t>
            </a:r>
          </a:p>
        </p:txBody>
      </p:sp>
      <p:sp>
        <p:nvSpPr>
          <p:cNvPr id="27" name="Прямоугольник 26"/>
          <p:cNvSpPr/>
          <p:nvPr userDrawn="1"/>
        </p:nvSpPr>
        <p:spPr>
          <a:xfrm>
            <a:off x="570629" y="5179157"/>
            <a:ext cx="625057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>
              <a:lnSpc>
                <a:spcPct val="150000"/>
              </a:lnSpc>
            </a:pPr>
            <a:r>
              <a:rPr lang="ru-RU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РУКОВОДИТЕЛЬ</a:t>
            </a:r>
          </a:p>
          <a:p>
            <a:pPr lvl="0" algn="l">
              <a:lnSpc>
                <a:spcPct val="150000"/>
              </a:lnSpc>
            </a:pPr>
            <a:r>
              <a:rPr lang="ru-RU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КУРСОВОГО ПРОЕКТА:</a:t>
            </a:r>
          </a:p>
          <a:p>
            <a:pPr lvl="0" algn="l">
              <a:lnSpc>
                <a:spcPct val="150000"/>
              </a:lnSpc>
            </a:pPr>
            <a:endParaRPr lang="ru-RU" sz="16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Текст 14"/>
          <p:cNvSpPr>
            <a:spLocks noGrp="1"/>
          </p:cNvSpPr>
          <p:nvPr>
            <p:ph type="body" sz="quarter" idx="18" hasCustomPrompt="1"/>
          </p:nvPr>
        </p:nvSpPr>
        <p:spPr>
          <a:xfrm>
            <a:off x="3933594" y="5615020"/>
            <a:ext cx="2299063" cy="40564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buNone/>
              <a:defRPr sz="1600" b="0"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ФАМИЛИЯ И.О.</a:t>
            </a:r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184417" y="437781"/>
            <a:ext cx="1184109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0" algn="ctr" defTabSz="914400" rtl="0" eaLnBrk="1" latinLnBrk="0" hangingPunct="1"/>
            <a:r>
              <a:rPr lang="ru-RU" sz="1200" kern="1200" dirty="0">
                <a:solidFill>
                  <a:srgbClr val="0020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ДЕПАРТАМЕНТ ОБРАЗОВАНИЯ И НАУКИ ГОРОДА МОСКВЫ</a:t>
            </a:r>
          </a:p>
          <a:p>
            <a:pPr algn="ctr"/>
            <a:r>
              <a:rPr lang="ru-RU" sz="1200" kern="1200" dirty="0">
                <a:solidFill>
                  <a:srgbClr val="0020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Государственное бюджетное профессиональное образовательное учреждение города Москвы</a:t>
            </a:r>
          </a:p>
          <a:p>
            <a:pPr algn="ctr"/>
            <a:r>
              <a:rPr lang="ru-RU" sz="1200" kern="1200" dirty="0">
                <a:solidFill>
                  <a:srgbClr val="0020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«Колледж автоматизации и информационных технологий № 20»</a:t>
            </a:r>
          </a:p>
        </p:txBody>
      </p:sp>
    </p:spTree>
    <p:extLst>
      <p:ext uri="{BB962C8B-B14F-4D97-AF65-F5344CB8AC3E}">
        <p14:creationId xmlns:p14="http://schemas.microsoft.com/office/powerpoint/2010/main" val="738774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 userDrawn="1"/>
        </p:nvSpPr>
        <p:spPr>
          <a:xfrm>
            <a:off x="1" y="0"/>
            <a:ext cx="1413862" cy="6858000"/>
          </a:xfrm>
          <a:prstGeom prst="rect">
            <a:avLst/>
          </a:prstGeom>
          <a:gradFill>
            <a:gsLst>
              <a:gs pos="0">
                <a:srgbClr val="764596"/>
              </a:gs>
              <a:gs pos="100000">
                <a:srgbClr val="44439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1720583" y="1807134"/>
            <a:ext cx="8645178" cy="1888887"/>
          </a:xfrm>
        </p:spPr>
        <p:txBody>
          <a:bodyPr>
            <a:normAutofit/>
          </a:bodyPr>
          <a:lstStyle>
            <a:lvl1pPr>
              <a:defRPr sz="3200" b="1">
                <a:solidFill>
                  <a:srgbClr val="4C429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ЗАГОЛОВОК ПОДРАЗДЕЛА</a:t>
            </a:r>
          </a:p>
        </p:txBody>
      </p:sp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3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116" y="244739"/>
            <a:ext cx="787632" cy="1064695"/>
          </a:xfrm>
          <a:prstGeom prst="rect">
            <a:avLst/>
          </a:prstGeom>
        </p:spPr>
      </p:pic>
      <p:sp>
        <p:nvSpPr>
          <p:cNvPr id="8" name="Параллелограмм 7"/>
          <p:cNvSpPr/>
          <p:nvPr userDrawn="1"/>
        </p:nvSpPr>
        <p:spPr>
          <a:xfrm rot="19287111">
            <a:off x="-370082" y="1666669"/>
            <a:ext cx="2146752" cy="416832"/>
          </a:xfrm>
          <a:prstGeom prst="parallelogram">
            <a:avLst>
              <a:gd name="adj" fmla="val 7917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Текст 11"/>
          <p:cNvSpPr>
            <a:spLocks noGrp="1"/>
          </p:cNvSpPr>
          <p:nvPr>
            <p:ph type="body" sz="quarter" idx="10" hasCustomPrompt="1"/>
          </p:nvPr>
        </p:nvSpPr>
        <p:spPr>
          <a:xfrm>
            <a:off x="1720583" y="3696021"/>
            <a:ext cx="6529387" cy="990600"/>
          </a:xfrm>
        </p:spPr>
        <p:txBody>
          <a:bodyPr/>
          <a:lstStyle>
            <a:lvl1pPr marL="0" indent="0">
              <a:buNone/>
              <a:defRPr>
                <a:solidFill>
                  <a:srgbClr val="444391"/>
                </a:solidFill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1462676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Заголовок и объек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>
          <a:xfrm rot="16200000">
            <a:off x="6107539" y="-4941111"/>
            <a:ext cx="815121" cy="11353801"/>
          </a:xfrm>
          <a:prstGeom prst="rect">
            <a:avLst/>
          </a:prstGeom>
          <a:gradFill>
            <a:gsLst>
              <a:gs pos="0">
                <a:srgbClr val="764596"/>
              </a:gs>
              <a:gs pos="100000">
                <a:srgbClr val="44439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1037344" y="328228"/>
            <a:ext cx="10316455" cy="815122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Заголовок</a:t>
            </a:r>
          </a:p>
        </p:txBody>
      </p:sp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68" y="234870"/>
            <a:ext cx="787632" cy="1064695"/>
          </a:xfrm>
          <a:prstGeom prst="rect">
            <a:avLst/>
          </a:prstGeom>
        </p:spPr>
      </p:pic>
      <p:sp>
        <p:nvSpPr>
          <p:cNvPr id="6" name="Текст 11"/>
          <p:cNvSpPr>
            <a:spLocks noGrp="1"/>
          </p:cNvSpPr>
          <p:nvPr>
            <p:ph type="body" sz="quarter" idx="11" hasCustomPrompt="1"/>
          </p:nvPr>
        </p:nvSpPr>
        <p:spPr>
          <a:xfrm>
            <a:off x="838199" y="1304543"/>
            <a:ext cx="10515601" cy="486736"/>
          </a:xfrm>
        </p:spPr>
        <p:txBody>
          <a:bodyPr anchor="ctr">
            <a:normAutofit/>
          </a:bodyPr>
          <a:lstStyle>
            <a:lvl1pPr marL="0" indent="0">
              <a:buNone/>
              <a:defRPr sz="2400">
                <a:solidFill>
                  <a:srgbClr val="444391"/>
                </a:solidFill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8" name="Параллелограмм 7"/>
          <p:cNvSpPr/>
          <p:nvPr userDrawn="1"/>
        </p:nvSpPr>
        <p:spPr>
          <a:xfrm rot="13887111">
            <a:off x="10286727" y="638748"/>
            <a:ext cx="2146752" cy="416832"/>
          </a:xfrm>
          <a:prstGeom prst="parallelogram">
            <a:avLst>
              <a:gd name="adj" fmla="val 7917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Объект 2"/>
          <p:cNvSpPr>
            <a:spLocks noGrp="1"/>
          </p:cNvSpPr>
          <p:nvPr>
            <p:ph idx="1"/>
          </p:nvPr>
        </p:nvSpPr>
        <p:spPr>
          <a:xfrm>
            <a:off x="838200" y="1938701"/>
            <a:ext cx="10515600" cy="435133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44439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497175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Заголовок и объек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>
          <a:xfrm rot="16200000">
            <a:off x="6107539" y="-4941110"/>
            <a:ext cx="815121" cy="11353801"/>
          </a:xfrm>
          <a:prstGeom prst="rect">
            <a:avLst/>
          </a:prstGeom>
          <a:gradFill>
            <a:gsLst>
              <a:gs pos="0">
                <a:srgbClr val="764596"/>
              </a:gs>
              <a:gs pos="100000">
                <a:srgbClr val="44439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1106500" y="328229"/>
            <a:ext cx="10247299" cy="815122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Заголовок</a:t>
            </a:r>
          </a:p>
        </p:txBody>
      </p:sp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68" y="234871"/>
            <a:ext cx="787632" cy="1064695"/>
          </a:xfrm>
          <a:prstGeom prst="rect">
            <a:avLst/>
          </a:prstGeom>
        </p:spPr>
      </p:pic>
      <p:sp>
        <p:nvSpPr>
          <p:cNvPr id="6" name="Текст 11"/>
          <p:cNvSpPr>
            <a:spLocks noGrp="1"/>
          </p:cNvSpPr>
          <p:nvPr>
            <p:ph type="body" sz="quarter" idx="11" hasCustomPrompt="1"/>
          </p:nvPr>
        </p:nvSpPr>
        <p:spPr>
          <a:xfrm>
            <a:off x="838199" y="1304544"/>
            <a:ext cx="5147663" cy="486736"/>
          </a:xfrm>
        </p:spPr>
        <p:txBody>
          <a:bodyPr anchor="ctr">
            <a:normAutofit/>
          </a:bodyPr>
          <a:lstStyle>
            <a:lvl1pPr marL="0" indent="0">
              <a:buNone/>
              <a:defRPr sz="2400">
                <a:solidFill>
                  <a:srgbClr val="444391"/>
                </a:solidFill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8" name="Параллелограмм 7"/>
          <p:cNvSpPr/>
          <p:nvPr userDrawn="1"/>
        </p:nvSpPr>
        <p:spPr>
          <a:xfrm rot="13887111">
            <a:off x="10286727" y="584961"/>
            <a:ext cx="2146752" cy="416832"/>
          </a:xfrm>
          <a:prstGeom prst="parallelogram">
            <a:avLst>
              <a:gd name="adj" fmla="val 7917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Объект 2"/>
          <p:cNvSpPr>
            <a:spLocks noGrp="1"/>
          </p:cNvSpPr>
          <p:nvPr>
            <p:ph idx="12" hasCustomPrompt="1"/>
          </p:nvPr>
        </p:nvSpPr>
        <p:spPr>
          <a:xfrm>
            <a:off x="6206138" y="1299566"/>
            <a:ext cx="5147662" cy="4990474"/>
          </a:xfrm>
        </p:spPr>
        <p:txBody>
          <a:bodyPr>
            <a:normAutofit/>
          </a:bodyPr>
          <a:lstStyle>
            <a:lvl1pPr marL="0" indent="0" algn="ctr">
              <a:buNone/>
              <a:defRPr sz="1800" baseline="0">
                <a:solidFill>
                  <a:srgbClr val="44439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Кликните для вставки таблицы, диаграммы, схемы, видео, фото, рисунок.</a:t>
            </a:r>
          </a:p>
        </p:txBody>
      </p:sp>
      <p:sp>
        <p:nvSpPr>
          <p:cNvPr id="12" name="Текст 11"/>
          <p:cNvSpPr>
            <a:spLocks noGrp="1"/>
          </p:cNvSpPr>
          <p:nvPr>
            <p:ph type="body" sz="quarter" idx="13" hasCustomPrompt="1"/>
          </p:nvPr>
        </p:nvSpPr>
        <p:spPr>
          <a:xfrm>
            <a:off x="838199" y="1952472"/>
            <a:ext cx="5147663" cy="4337568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rgbClr val="444391"/>
                </a:solidFill>
              </a:defRPr>
            </a:lvl1pPr>
          </a:lstStyle>
          <a:p>
            <a:pPr lvl="0"/>
            <a:r>
              <a:rPr lang="ru-RU" dirty="0"/>
              <a:t>Образец 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15129490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Заголовок и объек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>
          <a:xfrm rot="16200000">
            <a:off x="6107539" y="-4941111"/>
            <a:ext cx="815121" cy="11353801"/>
          </a:xfrm>
          <a:prstGeom prst="rect">
            <a:avLst/>
          </a:prstGeom>
          <a:gradFill>
            <a:gsLst>
              <a:gs pos="0">
                <a:srgbClr val="764596"/>
              </a:gs>
              <a:gs pos="100000">
                <a:srgbClr val="44439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1037344" y="328228"/>
            <a:ext cx="10316455" cy="815122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Заголовок</a:t>
            </a:r>
          </a:p>
        </p:txBody>
      </p:sp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68" y="234870"/>
            <a:ext cx="787632" cy="1064695"/>
          </a:xfrm>
          <a:prstGeom prst="rect">
            <a:avLst/>
          </a:prstGeom>
        </p:spPr>
      </p:pic>
      <p:sp>
        <p:nvSpPr>
          <p:cNvPr id="8" name="Параллелограмм 7"/>
          <p:cNvSpPr/>
          <p:nvPr userDrawn="1"/>
        </p:nvSpPr>
        <p:spPr>
          <a:xfrm rot="13887111">
            <a:off x="10286727" y="577276"/>
            <a:ext cx="2146752" cy="416832"/>
          </a:xfrm>
          <a:prstGeom prst="parallelogram">
            <a:avLst>
              <a:gd name="adj" fmla="val 7917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Объект 2"/>
          <p:cNvSpPr>
            <a:spLocks noGrp="1"/>
          </p:cNvSpPr>
          <p:nvPr>
            <p:ph idx="1" hasCustomPrompt="1"/>
          </p:nvPr>
        </p:nvSpPr>
        <p:spPr>
          <a:xfrm>
            <a:off x="838199" y="1786301"/>
            <a:ext cx="5067301" cy="435133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Кликните чтобы вставить фото</a:t>
            </a:r>
          </a:p>
        </p:txBody>
      </p:sp>
      <p:sp>
        <p:nvSpPr>
          <p:cNvPr id="13" name="Объект 2"/>
          <p:cNvSpPr>
            <a:spLocks noGrp="1"/>
          </p:cNvSpPr>
          <p:nvPr>
            <p:ph idx="10" hasCustomPrompt="1"/>
          </p:nvPr>
        </p:nvSpPr>
        <p:spPr>
          <a:xfrm>
            <a:off x="6286499" y="1786301"/>
            <a:ext cx="5067301" cy="435133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Кликните чтобы вставить фото</a:t>
            </a:r>
          </a:p>
        </p:txBody>
      </p:sp>
      <p:sp>
        <p:nvSpPr>
          <p:cNvPr id="14" name="Текст 11"/>
          <p:cNvSpPr>
            <a:spLocks noGrp="1"/>
          </p:cNvSpPr>
          <p:nvPr>
            <p:ph type="body" sz="quarter" idx="11" hasCustomPrompt="1"/>
          </p:nvPr>
        </p:nvSpPr>
        <p:spPr>
          <a:xfrm>
            <a:off x="838199" y="1304543"/>
            <a:ext cx="10515601" cy="486736"/>
          </a:xfrm>
        </p:spPr>
        <p:txBody>
          <a:bodyPr anchor="ctr">
            <a:normAutofit/>
          </a:bodyPr>
          <a:lstStyle>
            <a:lvl1pPr marL="0" indent="0">
              <a:buNone/>
              <a:defRPr sz="2400">
                <a:solidFill>
                  <a:srgbClr val="444391"/>
                </a:solidFill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780330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Заголовок и объек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>
          <a:xfrm rot="16200000">
            <a:off x="6107539" y="-4941111"/>
            <a:ext cx="815121" cy="11353801"/>
          </a:xfrm>
          <a:prstGeom prst="rect">
            <a:avLst/>
          </a:prstGeom>
          <a:gradFill>
            <a:gsLst>
              <a:gs pos="0">
                <a:srgbClr val="764596"/>
              </a:gs>
              <a:gs pos="100000">
                <a:srgbClr val="44439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1060396" y="328228"/>
            <a:ext cx="10293403" cy="815122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Заголовок</a:t>
            </a:r>
          </a:p>
        </p:txBody>
      </p:sp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68" y="234870"/>
            <a:ext cx="787632" cy="1064695"/>
          </a:xfrm>
          <a:prstGeom prst="rect">
            <a:avLst/>
          </a:prstGeom>
        </p:spPr>
      </p:pic>
      <p:sp>
        <p:nvSpPr>
          <p:cNvPr id="8" name="Параллелограмм 7"/>
          <p:cNvSpPr/>
          <p:nvPr userDrawn="1"/>
        </p:nvSpPr>
        <p:spPr>
          <a:xfrm rot="13887111">
            <a:off x="10286727" y="500436"/>
            <a:ext cx="2146752" cy="416832"/>
          </a:xfrm>
          <a:prstGeom prst="parallelogram">
            <a:avLst>
              <a:gd name="adj" fmla="val 7917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Объект 2"/>
          <p:cNvSpPr>
            <a:spLocks noGrp="1"/>
          </p:cNvSpPr>
          <p:nvPr>
            <p:ph idx="1" hasCustomPrompt="1"/>
          </p:nvPr>
        </p:nvSpPr>
        <p:spPr>
          <a:xfrm>
            <a:off x="838200" y="1299565"/>
            <a:ext cx="10515600" cy="4990474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44439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Вставьте текст</a:t>
            </a:r>
          </a:p>
        </p:txBody>
      </p:sp>
    </p:spTree>
    <p:extLst>
      <p:ext uri="{BB962C8B-B14F-4D97-AF65-F5344CB8AC3E}">
        <p14:creationId xmlns:p14="http://schemas.microsoft.com/office/powerpoint/2010/main" val="3024941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объек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 userDrawn="1"/>
        </p:nvSpPr>
        <p:spPr>
          <a:xfrm rot="16200000">
            <a:off x="2620269" y="-1453842"/>
            <a:ext cx="815121" cy="4379261"/>
          </a:xfrm>
          <a:prstGeom prst="rect">
            <a:avLst/>
          </a:prstGeom>
          <a:gradFill>
            <a:gsLst>
              <a:gs pos="0">
                <a:srgbClr val="764596"/>
              </a:gs>
              <a:gs pos="100000">
                <a:srgbClr val="44439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араллелограмм 13"/>
          <p:cNvSpPr/>
          <p:nvPr userDrawn="1"/>
        </p:nvSpPr>
        <p:spPr>
          <a:xfrm rot="13887111">
            <a:off x="4203859" y="727299"/>
            <a:ext cx="2146752" cy="150770"/>
          </a:xfrm>
          <a:prstGeom prst="parallelogram">
            <a:avLst>
              <a:gd name="adj" fmla="val 7917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952820" y="328229"/>
            <a:ext cx="4264640" cy="815122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Заголовок</a:t>
            </a:r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68" y="234871"/>
            <a:ext cx="787632" cy="1064695"/>
          </a:xfrm>
          <a:prstGeom prst="rect">
            <a:avLst/>
          </a:prstGeom>
        </p:spPr>
      </p:pic>
      <p:sp>
        <p:nvSpPr>
          <p:cNvPr id="11" name="Объект 2"/>
          <p:cNvSpPr>
            <a:spLocks noGrp="1"/>
          </p:cNvSpPr>
          <p:nvPr>
            <p:ph idx="10" hasCustomPrompt="1"/>
          </p:nvPr>
        </p:nvSpPr>
        <p:spPr>
          <a:xfrm>
            <a:off x="5484576" y="328229"/>
            <a:ext cx="6438483" cy="6147228"/>
          </a:xfrm>
          <a:solidFill>
            <a:schemeClr val="bg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Кликните чтобы вставить фото</a:t>
            </a:r>
          </a:p>
        </p:txBody>
      </p:sp>
      <p:sp>
        <p:nvSpPr>
          <p:cNvPr id="13" name="Объект 2"/>
          <p:cNvSpPr>
            <a:spLocks noGrp="1"/>
          </p:cNvSpPr>
          <p:nvPr>
            <p:ph idx="1" hasCustomPrompt="1"/>
          </p:nvPr>
        </p:nvSpPr>
        <p:spPr>
          <a:xfrm>
            <a:off x="838200" y="1299566"/>
            <a:ext cx="4379260" cy="4990474"/>
          </a:xfr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44439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Вставьте текст</a:t>
            </a:r>
          </a:p>
        </p:txBody>
      </p:sp>
    </p:spTree>
    <p:extLst>
      <p:ext uri="{BB962C8B-B14F-4D97-AF65-F5344CB8AC3E}">
        <p14:creationId xmlns:p14="http://schemas.microsoft.com/office/powerpoint/2010/main" val="3847718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Заголовок и объек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 userDrawn="1"/>
        </p:nvSpPr>
        <p:spPr>
          <a:xfrm rot="16200000">
            <a:off x="2620269" y="-1453842"/>
            <a:ext cx="815121" cy="4379261"/>
          </a:xfrm>
          <a:prstGeom prst="rect">
            <a:avLst/>
          </a:prstGeom>
          <a:gradFill>
            <a:gsLst>
              <a:gs pos="0">
                <a:srgbClr val="764596"/>
              </a:gs>
              <a:gs pos="100000">
                <a:srgbClr val="44439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араллелограмм 13"/>
          <p:cNvSpPr/>
          <p:nvPr userDrawn="1"/>
        </p:nvSpPr>
        <p:spPr>
          <a:xfrm rot="13887111">
            <a:off x="4203859" y="727299"/>
            <a:ext cx="2146752" cy="150770"/>
          </a:xfrm>
          <a:prstGeom prst="parallelogram">
            <a:avLst>
              <a:gd name="adj" fmla="val 7917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999720" y="328229"/>
            <a:ext cx="4217740" cy="815122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Заголовок</a:t>
            </a:r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68" y="234871"/>
            <a:ext cx="787632" cy="1064695"/>
          </a:xfrm>
          <a:prstGeom prst="rect">
            <a:avLst/>
          </a:prstGeom>
        </p:spPr>
      </p:pic>
      <p:sp>
        <p:nvSpPr>
          <p:cNvPr id="11" name="Объект 2"/>
          <p:cNvSpPr>
            <a:spLocks noGrp="1"/>
          </p:cNvSpPr>
          <p:nvPr>
            <p:ph idx="10" hasCustomPrompt="1"/>
          </p:nvPr>
        </p:nvSpPr>
        <p:spPr>
          <a:xfrm>
            <a:off x="8840636" y="3403122"/>
            <a:ext cx="3082423" cy="2942985"/>
          </a:xfrm>
          <a:solidFill>
            <a:schemeClr val="bg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Кликните чтобы вставить фото</a:t>
            </a:r>
          </a:p>
        </p:txBody>
      </p:sp>
      <p:sp>
        <p:nvSpPr>
          <p:cNvPr id="13" name="Объект 2"/>
          <p:cNvSpPr>
            <a:spLocks noGrp="1"/>
          </p:cNvSpPr>
          <p:nvPr>
            <p:ph idx="1" hasCustomPrompt="1"/>
          </p:nvPr>
        </p:nvSpPr>
        <p:spPr>
          <a:xfrm>
            <a:off x="838200" y="1299566"/>
            <a:ext cx="4379260" cy="5046540"/>
          </a:xfr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44439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Вставьте текст</a:t>
            </a:r>
          </a:p>
        </p:txBody>
      </p:sp>
      <p:sp>
        <p:nvSpPr>
          <p:cNvPr id="8" name="Объект 2"/>
          <p:cNvSpPr>
            <a:spLocks noGrp="1"/>
          </p:cNvSpPr>
          <p:nvPr>
            <p:ph idx="11" hasCustomPrompt="1"/>
          </p:nvPr>
        </p:nvSpPr>
        <p:spPr>
          <a:xfrm>
            <a:off x="5596693" y="3403121"/>
            <a:ext cx="3082423" cy="2942985"/>
          </a:xfrm>
          <a:solidFill>
            <a:schemeClr val="bg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Кликните чтобы вставить фото</a:t>
            </a:r>
          </a:p>
        </p:txBody>
      </p:sp>
      <p:sp>
        <p:nvSpPr>
          <p:cNvPr id="9" name="Объект 2"/>
          <p:cNvSpPr>
            <a:spLocks noGrp="1"/>
          </p:cNvSpPr>
          <p:nvPr>
            <p:ph idx="12" hasCustomPrompt="1"/>
          </p:nvPr>
        </p:nvSpPr>
        <p:spPr>
          <a:xfrm>
            <a:off x="8840636" y="328228"/>
            <a:ext cx="3082423" cy="2942985"/>
          </a:xfrm>
          <a:solidFill>
            <a:schemeClr val="bg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Кликните чтобы вставить фото</a:t>
            </a:r>
          </a:p>
        </p:txBody>
      </p:sp>
      <p:sp>
        <p:nvSpPr>
          <p:cNvPr id="10" name="Объект 2"/>
          <p:cNvSpPr>
            <a:spLocks noGrp="1"/>
          </p:cNvSpPr>
          <p:nvPr>
            <p:ph idx="13" hasCustomPrompt="1"/>
          </p:nvPr>
        </p:nvSpPr>
        <p:spPr>
          <a:xfrm>
            <a:off x="5596693" y="328227"/>
            <a:ext cx="3082423" cy="2942985"/>
          </a:xfrm>
          <a:solidFill>
            <a:schemeClr val="bg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Кликните чтобы вставить фото</a:t>
            </a:r>
          </a:p>
        </p:txBody>
      </p:sp>
    </p:spTree>
    <p:extLst>
      <p:ext uri="{BB962C8B-B14F-4D97-AF65-F5344CB8AC3E}">
        <p14:creationId xmlns:p14="http://schemas.microsoft.com/office/powerpoint/2010/main" val="2452086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3"/>
            <a:endParaRPr lang="ru-RU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FE0170-5F17-4EB0-BFA4-80529005E784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B0E90D-BAE5-4CAD-8485-89BE0E092D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2367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2000" dirty="0"/>
              <a:t>Проектирование и разработка приложения для учета тренировок и достижений в спортивном клубе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Кутас Владислав Александрович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dirty="0"/>
              <a:t>ИСП222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ru-RU" dirty="0"/>
              <a:t>ЛИСАВИНА А. В.</a:t>
            </a:r>
          </a:p>
        </p:txBody>
      </p:sp>
    </p:spTree>
    <p:extLst>
      <p:ext uri="{BB962C8B-B14F-4D97-AF65-F5344CB8AC3E}">
        <p14:creationId xmlns:p14="http://schemas.microsoft.com/office/powerpoint/2010/main" val="39984385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/>
              <a:t>Цель</a:t>
            </a:r>
          </a:p>
        </p:txBody>
      </p:sp>
      <p:sp>
        <p:nvSpPr>
          <p:cNvPr id="7" name="Объект 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400" dirty="0"/>
              <a:t>Целью проекта является проектирование и разработка приложения учета тренировок и достижений в спортивном клубе. Приложение позволит автоматизировать процессы регистрации тренировок, их изменения, а также записи достижений клуба.</a:t>
            </a:r>
          </a:p>
        </p:txBody>
      </p:sp>
    </p:spTree>
    <p:extLst>
      <p:ext uri="{BB962C8B-B14F-4D97-AF65-F5344CB8AC3E}">
        <p14:creationId xmlns:p14="http://schemas.microsoft.com/office/powerpoint/2010/main" val="15540897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/>
              <a:t>Задачи</a:t>
            </a:r>
          </a:p>
        </p:txBody>
      </p:sp>
      <p:sp>
        <p:nvSpPr>
          <p:cNvPr id="7" name="Объект 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1)	Анализ предметной области и существующих решений;</a:t>
            </a:r>
          </a:p>
          <a:p>
            <a:r>
              <a:rPr lang="ru-RU" sz="2400" dirty="0"/>
              <a:t>2)	Формулировка функциональных и нефункциональных требований к системе;</a:t>
            </a:r>
          </a:p>
          <a:p>
            <a:r>
              <a:rPr lang="ru-RU" sz="2400" dirty="0"/>
              <a:t>3)	Выбор оптимального технологического стека для реализации приложения;</a:t>
            </a:r>
          </a:p>
          <a:p>
            <a:r>
              <a:rPr lang="ru-RU" sz="2400" dirty="0"/>
              <a:t>4)	Проектирование и разработка системы;</a:t>
            </a:r>
          </a:p>
          <a:p>
            <a:r>
              <a:rPr lang="ru-RU" sz="2400" dirty="0"/>
              <a:t>5)	Тестирование.</a:t>
            </a:r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5399491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/>
              <a:t>Актуальность</a:t>
            </a:r>
          </a:p>
        </p:txBody>
      </p:sp>
      <p:sp>
        <p:nvSpPr>
          <p:cNvPr id="7" name="Объект 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400" dirty="0"/>
              <a:t>Применение данного приложения позволит повысить эффективность работы спортивного клуба и сократить время на обработку данных, снизить вероятность возникновения ошибок и улучшить взаимодействие между тренером и клиентом.</a:t>
            </a:r>
          </a:p>
        </p:txBody>
      </p:sp>
    </p:spTree>
    <p:extLst>
      <p:ext uri="{BB962C8B-B14F-4D97-AF65-F5344CB8AC3E}">
        <p14:creationId xmlns:p14="http://schemas.microsoft.com/office/powerpoint/2010/main" val="15316124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/>
              <a:t>Используемый стек технологий</a:t>
            </a:r>
          </a:p>
        </p:txBody>
      </p:sp>
      <p:sp>
        <p:nvSpPr>
          <p:cNvPr id="7" name="Объект 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ru-RU" sz="2000" dirty="0"/>
              <a:t>Проанализировав все варианты инструментов для разработки проекта, был выбран следующий стек технологий:</a:t>
            </a:r>
          </a:p>
          <a:p>
            <a:pPr algn="just"/>
            <a:r>
              <a:rPr lang="ru-RU" sz="2000" dirty="0"/>
              <a:t>—	C#</a:t>
            </a:r>
          </a:p>
          <a:p>
            <a:pPr algn="just"/>
            <a:r>
              <a:rPr lang="ru-RU" sz="2000" dirty="0"/>
              <a:t>—	Visual Studio</a:t>
            </a:r>
          </a:p>
          <a:p>
            <a:pPr algn="just"/>
            <a:r>
              <a:rPr lang="ru-RU" sz="2000" dirty="0"/>
              <a:t>—	Windows </a:t>
            </a:r>
            <a:r>
              <a:rPr lang="ru-RU" sz="2000" dirty="0" err="1"/>
              <a:t>Forms</a:t>
            </a:r>
            <a:endParaRPr lang="ru-RU" sz="2000" dirty="0"/>
          </a:p>
          <a:p>
            <a:pPr algn="just"/>
            <a:r>
              <a:rPr lang="ru-RU" sz="2000" dirty="0"/>
              <a:t>—	MySQL</a:t>
            </a:r>
          </a:p>
          <a:p>
            <a:pPr algn="just"/>
            <a:r>
              <a:rPr lang="ru-RU" sz="2000" dirty="0"/>
              <a:t>—	</a:t>
            </a:r>
            <a:r>
              <a:rPr lang="ru-RU" sz="2000" dirty="0" err="1"/>
              <a:t>Visio</a:t>
            </a:r>
            <a:endParaRPr lang="ru-RU" sz="2000" dirty="0"/>
          </a:p>
          <a:p>
            <a:pPr algn="just"/>
            <a:endParaRPr lang="ru-RU" sz="2000" dirty="0"/>
          </a:p>
        </p:txBody>
      </p:sp>
      <p:pic>
        <p:nvPicPr>
          <p:cNvPr id="1026" name="Picture 2" descr="GitHub - daniel2IT/CarAndGoWebApp: Here is a ASP.NET Core MVC Application, wher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8981" y="4318771"/>
            <a:ext cx="2547025" cy="1591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Picture background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5150" y="4280637"/>
            <a:ext cx="1444160" cy="1668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336F28D-6A30-4D7D-9FF0-949A8D5DE9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532" y="4294772"/>
            <a:ext cx="1670449" cy="1664352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0013946-CEF3-4AD1-903D-3ACD16CFF4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78" y="4341846"/>
            <a:ext cx="1591194" cy="1591194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5D64378-4B90-4415-8663-C8BDA3758C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85040" y="4278346"/>
            <a:ext cx="1755800" cy="1670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1484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Диаграмма «сущность-связь»</a:t>
            </a:r>
          </a:p>
        </p:txBody>
      </p:sp>
      <p:pic>
        <p:nvPicPr>
          <p:cNvPr id="3" name="Объект 2">
            <a:extLst>
              <a:ext uri="{FF2B5EF4-FFF2-40B4-BE49-F238E27FC236}">
                <a16:creationId xmlns:a16="http://schemas.microsoft.com/office/drawing/2014/main" id="{F3A73B9B-9514-4425-BE66-12CAA65520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15432" y="1300163"/>
            <a:ext cx="5361135" cy="4989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25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Диаграмма вариантов использования</a:t>
            </a:r>
          </a:p>
        </p:txBody>
      </p:sp>
      <p:pic>
        <p:nvPicPr>
          <p:cNvPr id="3" name="Объект 2">
            <a:extLst>
              <a:ext uri="{FF2B5EF4-FFF2-40B4-BE49-F238E27FC236}">
                <a16:creationId xmlns:a16="http://schemas.microsoft.com/office/drawing/2014/main" id="{40BCC265-2D92-4C40-9C4E-76BB422CE2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69666" y="1639796"/>
            <a:ext cx="5852667" cy="4310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095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Интерфейс системы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07412238-CD1A-4B50-8BCB-9E35423DE3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742" y="2291157"/>
            <a:ext cx="5066215" cy="3340898"/>
          </a:xfrm>
          <a:prstGeom prst="rect">
            <a:avLst/>
          </a:prstGeom>
        </p:spPr>
      </p:pic>
      <p:pic>
        <p:nvPicPr>
          <p:cNvPr id="7" name="Объект 6">
            <a:extLst>
              <a:ext uri="{FF2B5EF4-FFF2-40B4-BE49-F238E27FC236}">
                <a16:creationId xmlns:a16="http://schemas.microsoft.com/office/drawing/2014/main" id="{0CA77AC6-70D2-498A-8A1A-D818777A7C6E}"/>
              </a:ext>
            </a:extLst>
          </p:cNvPr>
          <p:cNvPicPr>
            <a:picLocks noGrp="1" noChangeAspect="1"/>
          </p:cNvPicPr>
          <p:nvPr>
            <p:ph idx="10"/>
          </p:nvPr>
        </p:nvPicPr>
        <p:blipFill>
          <a:blip r:embed="rId3"/>
          <a:stretch>
            <a:fillRect/>
          </a:stretch>
        </p:blipFill>
        <p:spPr>
          <a:xfrm>
            <a:off x="6287042" y="2291157"/>
            <a:ext cx="5066215" cy="3340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4063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Интерфейс системы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19E96361-58C3-4B0B-AEAA-B6B5FAF5FD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742" y="2303351"/>
            <a:ext cx="5066215" cy="3316511"/>
          </a:xfrm>
          <a:prstGeom prst="rect">
            <a:avLst/>
          </a:prstGeom>
        </p:spPr>
      </p:pic>
      <p:pic>
        <p:nvPicPr>
          <p:cNvPr id="5" name="Объект 4">
            <a:extLst>
              <a:ext uri="{FF2B5EF4-FFF2-40B4-BE49-F238E27FC236}">
                <a16:creationId xmlns:a16="http://schemas.microsoft.com/office/drawing/2014/main" id="{E8EA41E4-7FF8-480F-B004-3458A994C39E}"/>
              </a:ext>
            </a:extLst>
          </p:cNvPr>
          <p:cNvPicPr>
            <a:picLocks noGrp="1" noChangeAspect="1"/>
          </p:cNvPicPr>
          <p:nvPr>
            <p:ph idx="10"/>
          </p:nvPr>
        </p:nvPicPr>
        <p:blipFill>
          <a:blip r:embed="rId4"/>
          <a:stretch>
            <a:fillRect/>
          </a:stretch>
        </p:blipFill>
        <p:spPr>
          <a:xfrm>
            <a:off x="6286500" y="2286718"/>
            <a:ext cx="5067300" cy="3349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1468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Фрагмент программного кода</a:t>
            </a:r>
          </a:p>
        </p:txBody>
      </p:sp>
      <p:pic>
        <p:nvPicPr>
          <p:cNvPr id="3" name="Объект 2">
            <a:extLst>
              <a:ext uri="{FF2B5EF4-FFF2-40B4-BE49-F238E27FC236}">
                <a16:creationId xmlns:a16="http://schemas.microsoft.com/office/drawing/2014/main" id="{E76D5CCB-4B35-4CFE-B810-E7262C31C4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83859" y="1291613"/>
            <a:ext cx="8624281" cy="4964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0087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Заключение</a:t>
            </a:r>
          </a:p>
        </p:txBody>
      </p:sp>
      <p:sp>
        <p:nvSpPr>
          <p:cNvPr id="7" name="Объект 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400" dirty="0"/>
              <a:t>Поставленная цель – разработка приложения учета тренировок и достижений в спортивном клубе – достигнута. Все задачи успешно выполнены.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400" dirty="0"/>
              <a:t>Варианты для расширения функционала приложения:</a:t>
            </a:r>
          </a:p>
          <a:p>
            <a:pPr marL="457200" lvl="1" indent="0" algn="just">
              <a:buNone/>
            </a:pPr>
            <a:r>
              <a:rPr lang="ru-RU" dirty="0">
                <a:solidFill>
                  <a:srgbClr val="4443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—	Внедрение системы статистики и аналитики;</a:t>
            </a:r>
          </a:p>
          <a:p>
            <a:pPr marL="457200" lvl="1" indent="0" algn="just">
              <a:buNone/>
            </a:pPr>
            <a:r>
              <a:rPr lang="ru-RU" dirty="0">
                <a:solidFill>
                  <a:srgbClr val="4443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—	Реализация функций поиска и фильтрации данных по различным параметрам;</a:t>
            </a:r>
          </a:p>
          <a:p>
            <a:pPr marL="457200" lvl="1" indent="0" algn="just">
              <a:buNone/>
            </a:pPr>
            <a:r>
              <a:rPr lang="ru-RU" dirty="0">
                <a:solidFill>
                  <a:srgbClr val="4443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—	Добавление возможности экспорта данных в различные форматы;</a:t>
            </a:r>
          </a:p>
          <a:p>
            <a:pPr marL="457200" lvl="1" indent="0" algn="just">
              <a:buNone/>
            </a:pPr>
            <a:r>
              <a:rPr lang="ru-RU" dirty="0">
                <a:solidFill>
                  <a:srgbClr val="4443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—	Интеграция платежной системы;</a:t>
            </a:r>
          </a:p>
          <a:p>
            <a:pPr marL="457200" lvl="1" indent="0" algn="just">
              <a:buNone/>
            </a:pPr>
            <a:r>
              <a:rPr lang="ru-RU" dirty="0">
                <a:solidFill>
                  <a:srgbClr val="4443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—	Добавление истории посещения клиента.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4103117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1694206" y="223290"/>
            <a:ext cx="8645178" cy="1117137"/>
          </a:xfrm>
        </p:spPr>
        <p:txBody>
          <a:bodyPr>
            <a:normAutofit/>
          </a:bodyPr>
          <a:lstStyle/>
          <a:p>
            <a:r>
              <a:rPr lang="ru-RU" sz="4000" dirty="0"/>
              <a:t>Спасибо за внимание!</a:t>
            </a:r>
          </a:p>
        </p:txBody>
      </p:sp>
      <p:sp>
        <p:nvSpPr>
          <p:cNvPr id="8" name="Текст 9"/>
          <p:cNvSpPr>
            <a:spLocks noGrp="1"/>
          </p:cNvSpPr>
          <p:nvPr>
            <p:ph type="body" sz="quarter" idx="10"/>
          </p:nvPr>
        </p:nvSpPr>
        <p:spPr>
          <a:xfrm>
            <a:off x="1723458" y="4566153"/>
            <a:ext cx="6700974" cy="70646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Кутас Владислав Александрович</a:t>
            </a:r>
          </a:p>
        </p:txBody>
      </p:sp>
      <p:sp>
        <p:nvSpPr>
          <p:cNvPr id="11" name="Текст 9"/>
          <p:cNvSpPr>
            <a:spLocks noGrp="1"/>
          </p:cNvSpPr>
          <p:nvPr>
            <p:ph type="body" sz="quarter" idx="4294967295"/>
          </p:nvPr>
        </p:nvSpPr>
        <p:spPr>
          <a:xfrm>
            <a:off x="4929447" y="4113415"/>
            <a:ext cx="1097280" cy="36671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ИСП222</a:t>
            </a:r>
          </a:p>
        </p:txBody>
      </p:sp>
      <p:sp>
        <p:nvSpPr>
          <p:cNvPr id="14" name="Текст 14"/>
          <p:cNvSpPr>
            <a:spLocks noGrp="1"/>
          </p:cNvSpPr>
          <p:nvPr>
            <p:ph type="body" sz="quarter" idx="4294967295"/>
          </p:nvPr>
        </p:nvSpPr>
        <p:spPr>
          <a:xfrm>
            <a:off x="5090827" y="5381785"/>
            <a:ext cx="2300287" cy="40481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buNone/>
              <a:defRPr sz="1600" b="0"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ЛИСАВИНА А. В.</a:t>
            </a:r>
          </a:p>
        </p:txBody>
      </p:sp>
      <p:sp>
        <p:nvSpPr>
          <p:cNvPr id="4" name="Заголовок 1"/>
          <p:cNvSpPr txBox="1">
            <a:spLocks/>
          </p:cNvSpPr>
          <p:nvPr/>
        </p:nvSpPr>
        <p:spPr>
          <a:xfrm>
            <a:off x="1723457" y="2400712"/>
            <a:ext cx="6734741" cy="1522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206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ru-RU" dirty="0"/>
              <a:t>Проектирование и разработка приложения для учета тренировок и достижений в спортивном клубе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356" r="49722" b="19357"/>
          <a:stretch/>
        </p:blipFill>
        <p:spPr>
          <a:xfrm>
            <a:off x="8458199" y="1241817"/>
            <a:ext cx="3331931" cy="287159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52908" y="4126718"/>
            <a:ext cx="37712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ВЫПОЛНИЛ СТУДЕНТ ГРУППЫ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1725910" y="1475609"/>
            <a:ext cx="24415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l"/>
            <a:r>
              <a:rPr lang="ru-RU" sz="1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КУРСОВОЙ ПРОЕКТ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1723458" y="2070798"/>
            <a:ext cx="108876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l"/>
            <a:r>
              <a:rPr lang="ru-RU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 ТЕМУ</a:t>
            </a:r>
          </a:p>
        </p:txBody>
      </p:sp>
      <p:sp>
        <p:nvSpPr>
          <p:cNvPr id="13" name="Прямоугольник 12"/>
          <p:cNvSpPr/>
          <p:nvPr/>
        </p:nvSpPr>
        <p:spPr>
          <a:xfrm>
            <a:off x="1732126" y="4984028"/>
            <a:ext cx="352151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>
              <a:lnSpc>
                <a:spcPct val="150000"/>
              </a:lnSpc>
            </a:pPr>
            <a:r>
              <a:rPr lang="ru-RU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РУКОВОДИТЕЛЬ</a:t>
            </a:r>
          </a:p>
          <a:p>
            <a:pPr lvl="0" algn="l">
              <a:lnSpc>
                <a:spcPct val="150000"/>
              </a:lnSpc>
            </a:pPr>
            <a:r>
              <a:rPr lang="ru-RU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КУРСОВОГО ПРОЕКТА:</a:t>
            </a:r>
          </a:p>
          <a:p>
            <a:pPr lvl="0" algn="l">
              <a:lnSpc>
                <a:spcPct val="150000"/>
              </a:lnSpc>
            </a:pPr>
            <a:endParaRPr lang="ru-RU" sz="16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3567204"/>
      </p:ext>
    </p:extLst>
  </p:cSld>
  <p:clrMapOvr>
    <a:masterClrMapping/>
  </p:clrMapOvr>
</p:sld>
</file>

<file path=ppt/theme/theme1.xml><?xml version="1.0" encoding="utf-8"?>
<a:theme xmlns:a="http://schemas.openxmlformats.org/drawingml/2006/main" name="1_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658</TotalTime>
  <Words>284</Words>
  <Application>Microsoft Office PowerPoint</Application>
  <PresentationFormat>Широкоэкранный</PresentationFormat>
  <Paragraphs>45</Paragraphs>
  <Slides>12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1_Тема Office</vt:lpstr>
      <vt:lpstr>Проектирование и разработка приложения для учета тренировок и достижений в спортивном клубе</vt:lpstr>
      <vt:lpstr>Цель</vt:lpstr>
      <vt:lpstr>Задачи</vt:lpstr>
      <vt:lpstr>Актуальность</vt:lpstr>
      <vt:lpstr>Используемый стек технологий</vt:lpstr>
      <vt:lpstr>Диаграмма «сущность-связь»</vt:lpstr>
      <vt:lpstr>Диаграмма вариантов использования</vt:lpstr>
      <vt:lpstr>Интерфейс системы</vt:lpstr>
      <vt:lpstr>Интерфейс системы</vt:lpstr>
      <vt:lpstr>Фрагмент программного кода</vt:lpstr>
      <vt:lpstr>Заключение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Александр Савельев</dc:creator>
  <cp:lastModifiedBy>Jokit007 Jokit007</cp:lastModifiedBy>
  <cp:revision>97</cp:revision>
  <dcterms:created xsi:type="dcterms:W3CDTF">2023-03-20T17:08:26Z</dcterms:created>
  <dcterms:modified xsi:type="dcterms:W3CDTF">2026-04-07T08:00:46Z</dcterms:modified>
</cp:coreProperties>
</file>